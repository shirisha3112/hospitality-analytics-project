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Cabin" panose="020B0604020202020204" charset="0"/>
      <p:regular r:id="rId15"/>
    </p:embeddedFont>
    <p:embeddedFont>
      <p:font typeface="Unbounde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434" autoAdjust="0"/>
  </p:normalViewPr>
  <p:slideViewPr>
    <p:cSldViewPr snapToGrid="0" snapToObjects="1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41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pull/>
  </p:transition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5326" y="2594989"/>
            <a:ext cx="5844497" cy="69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Hospitality Analytics</a:t>
            </a:r>
            <a:endParaRPr lang="en-US" sz="4000" u="sng" dirty="0"/>
          </a:p>
        </p:txBody>
      </p:sp>
      <p:sp>
        <p:nvSpPr>
          <p:cNvPr id="4" name="Text 1"/>
          <p:cNvSpPr/>
          <p:nvPr/>
        </p:nvSpPr>
        <p:spPr>
          <a:xfrm>
            <a:off x="6096000" y="3429000"/>
            <a:ext cx="6223638" cy="52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Tools: Excel | MySQL | Power BI | Tableau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1338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2375694"/>
            <a:ext cx="2567915" cy="1804690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872607" y="2550220"/>
            <a:ext cx="221887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Analyze Bookings &amp; Revenue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2607" y="3168253"/>
            <a:ext cx="221887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Deep-dive into hotel booking and revenue datasets to surface trends and drivers.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440523" y="2375694"/>
            <a:ext cx="2568015" cy="1804690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3615044" y="2550220"/>
            <a:ext cx="2218972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Measure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5044" y="3168253"/>
            <a:ext cx="221897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Quantify occupancy and cancellation performance across segments.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83059" y="2375694"/>
            <a:ext cx="2568015" cy="1804690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6357580" y="2550220"/>
            <a:ext cx="221897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7580" y="2911574"/>
            <a:ext cx="221897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Break down bookings by city, hotel, room class, and platform.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25595" y="2375694"/>
            <a:ext cx="2568015" cy="1804690"/>
          </a:xfrm>
          <a:prstGeom prst="roundRect">
            <a:avLst>
              <a:gd name="adj" fmla="val 1451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9100116" y="2550220"/>
            <a:ext cx="2218972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Temporal Patterns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00116" y="3168253"/>
            <a:ext cx="2218972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weekday vs weekend booking behaviors.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8086" y="4354909"/>
            <a:ext cx="10795524" cy="989608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872607" y="4529435"/>
            <a:ext cx="1044648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 Support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2607" y="4890790"/>
            <a:ext cx="1044648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 dashboards to guide business decisions and recommend actions.</a:t>
            </a:r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533624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&amp; Data Preparation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086" y="2996406"/>
            <a:ext cx="289890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98086" y="3427611"/>
            <a:ext cx="2898901" cy="1518047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Hotel bookings, booking status, platform</a:t>
            </a:r>
            <a:endParaRPr lang="en-US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City, property/hotel, room class</a:t>
            </a:r>
            <a:endParaRPr lang="en-US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Revenue, capacity, rating, date fields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029173" y="2996406"/>
            <a:ext cx="2898901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29173" y="3684290"/>
            <a:ext cx="2898901" cy="1579066"/>
          </a:xfrm>
          <a:prstGeom prst="rect">
            <a:avLst/>
          </a:prstGeom>
          <a:noFill/>
          <a:ln/>
        </p:spPr>
        <p:txBody>
          <a:bodyPr wrap="square" lIns="0" tIns="69818" rIns="0" bIns="0" rtlCol="0" anchor="t">
            <a:no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Removed duplicates and checked missing values</a:t>
            </a:r>
            <a:endParaRPr lang="en-US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Standardized categorical fields</a:t>
            </a:r>
            <a:endParaRPr lang="en-US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Validated revenue &amp; booking fields</a:t>
            </a:r>
            <a:endParaRPr lang="en-US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Calculated KPIs for analysis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10357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KPIs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72667"/>
            <a:ext cx="2567915" cy="1788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7321" y="210353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91657" y="2670770"/>
            <a:ext cx="218077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1657" y="3032125"/>
            <a:ext cx="218077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$1,708,771,229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0523" y="1972667"/>
            <a:ext cx="2568015" cy="17889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9757" y="210353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634093" y="2670770"/>
            <a:ext cx="21808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Bookings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34093" y="3032125"/>
            <a:ext cx="218087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134,590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1972667"/>
            <a:ext cx="2568015" cy="17889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2294" y="210353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376630" y="2670770"/>
            <a:ext cx="21808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Capacity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376630" y="3032125"/>
            <a:ext cx="218087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232,576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5595" y="1972667"/>
            <a:ext cx="2568015" cy="17889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04830" y="210353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19166" y="2670770"/>
            <a:ext cx="2180873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Cancelled Bookings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119166" y="3288804"/>
            <a:ext cx="218087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33,420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936107"/>
            <a:ext cx="3482094" cy="18114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334410" y="406697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91657" y="4634210"/>
            <a:ext cx="30949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Rate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91657" y="4995565"/>
            <a:ext cx="3094952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57.87% — (Occupied rooms ÷ Total capacity)</a:t>
            </a:r>
            <a:endParaRPr lang="en-US" sz="13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4701" y="3936107"/>
            <a:ext cx="3482193" cy="181143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991026" y="406697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548272" y="4634210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Cancellation Rate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548272" y="4995565"/>
            <a:ext cx="309505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24.83% — (Cancelled bookings ÷ Total bookings)</a:t>
            </a:r>
            <a:endParaRPr lang="en-US" sz="13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1416" y="3936107"/>
            <a:ext cx="3482193" cy="181143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647740" y="4066977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204987" y="4634210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8204987" y="4995565"/>
            <a:ext cx="30950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3.62</a:t>
            </a:r>
            <a:endParaRPr lang="en-US" sz="1350" dirty="0"/>
          </a:p>
        </p:txBody>
      </p:sp>
      <p:sp>
        <p:nvSpPr>
          <p:cNvPr id="31" name="Rectangle 30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904" y="680936"/>
            <a:ext cx="9261828" cy="57021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962" y="77273"/>
            <a:ext cx="4293885" cy="6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Excel Dashboard</a:t>
            </a:r>
            <a:endParaRPr lang="en-US" sz="2800" u="sng" dirty="0"/>
          </a:p>
        </p:txBody>
      </p:sp>
      <p:sp>
        <p:nvSpPr>
          <p:cNvPr id="4" name="Text 1"/>
          <p:cNvSpPr/>
          <p:nvPr/>
        </p:nvSpPr>
        <p:spPr>
          <a:xfrm>
            <a:off x="304278" y="753596"/>
            <a:ext cx="1941248" cy="5775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Excel dashboard built to explore booking counts, revenue by city, and quick KPI filters for date ranges and room classes. Designed for rapid ad-hoc queries and spreadsheet-level validation before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 ingestion.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443" y="750259"/>
            <a:ext cx="9630383" cy="55672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06" y="57857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 Dashboard</a:t>
            </a:r>
            <a:endParaRPr lang="en-US" sz="3200" u="sng" dirty="0"/>
          </a:p>
        </p:txBody>
      </p:sp>
      <p:sp>
        <p:nvSpPr>
          <p:cNvPr id="4" name="Text 1"/>
          <p:cNvSpPr/>
          <p:nvPr/>
        </p:nvSpPr>
        <p:spPr>
          <a:xfrm>
            <a:off x="161138" y="1053790"/>
            <a:ext cx="1707121" cy="5746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visualizations provide cross-filtered views: map of revenue by city, occupancy trendlines, and cancellation funnels. Ideal for executive summaries and operational monitoring with drill-through details.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826" y="513259"/>
            <a:ext cx="9387191" cy="57124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21" y="-2307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Tableau Dashboard</a:t>
            </a:r>
            <a:endParaRPr lang="en-US" sz="3200" u="sng" dirty="0"/>
          </a:p>
        </p:txBody>
      </p:sp>
      <p:sp>
        <p:nvSpPr>
          <p:cNvPr id="4" name="Text 1"/>
          <p:cNvSpPr/>
          <p:nvPr/>
        </p:nvSpPr>
        <p:spPr>
          <a:xfrm>
            <a:off x="236707" y="1253087"/>
            <a:ext cx="2140085" cy="6883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Tableau dashboards focus on exploratory analysis: booking sources, room-class performance, and weekday/weekend comparisons with rich interactive filters for property and platform segmentation.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0" y="468614"/>
            <a:ext cx="5728523" cy="35803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802" y="477053"/>
            <a:ext cx="6215197" cy="35730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741" y="3361765"/>
            <a:ext cx="10094258" cy="34962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0743" y="53323"/>
            <a:ext cx="4405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Class Wise Revenue </a:t>
            </a:r>
            <a:r>
              <a:rPr lang="en-US" sz="2400" b="1" dirty="0" err="1">
                <a:solidFill>
                  <a:schemeClr val="bg1"/>
                </a:solidFill>
              </a:rPr>
              <a:t>Brekadown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6802" y="84230"/>
            <a:ext cx="5103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Status Based Breakdown: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43" y="5109882"/>
            <a:ext cx="216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Weekly Trend :</a:t>
            </a:r>
          </a:p>
        </p:txBody>
      </p:sp>
    </p:spTree>
    <p:extLst>
      <p:ext uri="{BB962C8B-B14F-4D97-AF65-F5344CB8AC3E}">
        <p14:creationId xmlns:p14="http://schemas.microsoft.com/office/powerpoint/2010/main" val="256650209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5" y="228600"/>
            <a:ext cx="11660156" cy="33025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4" y="3234447"/>
            <a:ext cx="11660156" cy="3302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70828"/>
            <a:ext cx="5607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Revenue by City and Property Breakdown:</a:t>
            </a:r>
          </a:p>
        </p:txBody>
      </p:sp>
    </p:spTree>
    <p:extLst>
      <p:ext uri="{BB962C8B-B14F-4D97-AF65-F5344CB8AC3E}">
        <p14:creationId xmlns:p14="http://schemas.microsoft.com/office/powerpoint/2010/main" val="229525879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6014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Insights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22450"/>
            <a:ext cx="735193" cy="7352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1455" y="1822450"/>
            <a:ext cx="1581805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51455" y="2440484"/>
            <a:ext cx="158180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Approximately $1.71 billion in analyzed period.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436" y="1822450"/>
            <a:ext cx="735193" cy="7352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04805" y="1822450"/>
            <a:ext cx="1581904" cy="1026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&amp; Cancellations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404805" y="2953841"/>
            <a:ext cx="1581904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Occupancy: 57.87%. Cancellation rate: 24.83%. ~70.15% of bookings checked out.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886" y="1822450"/>
            <a:ext cx="735193" cy="7352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58255" y="1822450"/>
            <a:ext cx="158190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Booking Patterns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158255" y="2440484"/>
            <a:ext cx="158190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Weekday bookings: 84,365 vs Weekend: 50,225 — weekdays dominate demand.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8336" y="1822450"/>
            <a:ext cx="735193" cy="7352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11705" y="1822450"/>
            <a:ext cx="15819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City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911705" y="2183805"/>
            <a:ext cx="158190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Mumbai generates the highest revenue among analyzed cities.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4698901"/>
            <a:ext cx="735193" cy="7352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51455" y="4698901"/>
            <a:ext cx="158180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Platform Mix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651455" y="5060255"/>
            <a:ext cx="158180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'Others' is the largest booking-platform category.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1436" y="4698901"/>
            <a:ext cx="735193" cy="7352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04805" y="4698901"/>
            <a:ext cx="1581904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Rating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4404805" y="5316934"/>
            <a:ext cx="15819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Average rating across properties: 3.62.</a:t>
            </a:r>
            <a:endParaRPr lang="en-US" sz="1350" dirty="0"/>
          </a:p>
        </p:txBody>
      </p:sp>
      <p:sp>
        <p:nvSpPr>
          <p:cNvPr id="21" name="Rectangle 20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27050"/>
            <a:ext cx="6223638" cy="42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Recommendations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5269971" y="1131689"/>
            <a:ext cx="144459" cy="995859"/>
          </a:xfrm>
          <a:prstGeom prst="roundRect">
            <a:avLst>
              <a:gd name="adj" fmla="val 15009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5534085" y="1276152"/>
            <a:ext cx="595952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— Reduce Cancellations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34085" y="1560413"/>
            <a:ext cx="5959524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Send booking reminders, analyze cancellation behavior by platform, and introduce suitable cancellation policies to lower the 24.83% rate.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759" y="2247205"/>
            <a:ext cx="144459" cy="995859"/>
          </a:xfrm>
          <a:prstGeom prst="roundRect">
            <a:avLst>
              <a:gd name="adj" fmla="val 15009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750873" y="2391668"/>
            <a:ext cx="574273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— Increase Weekend Bookings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50873" y="2675930"/>
            <a:ext cx="5742737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weekend packages, offer targeted discounts, and market to leisure travelers to boost weaker weekend demand.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03546" y="3362722"/>
            <a:ext cx="144459" cy="995859"/>
          </a:xfrm>
          <a:prstGeom prst="roundRect">
            <a:avLst>
              <a:gd name="adj" fmla="val 15009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5967660" y="3507184"/>
            <a:ext cx="552594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— Improve Customer Experience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67660" y="3791446"/>
            <a:ext cx="5525949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Continuously monitor ratings, flag underperforming properties, and implement service improvements to raise the 3.62 average rating.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20334" y="4478238"/>
            <a:ext cx="144459" cy="995859"/>
          </a:xfrm>
          <a:prstGeom prst="roundRect">
            <a:avLst>
              <a:gd name="adj" fmla="val 15009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6184448" y="4622701"/>
            <a:ext cx="5309162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— Optimize Revenue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84448" y="4906963"/>
            <a:ext cx="5309162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Prioritize high-performing cities/properties (e.g., Mumbai) and apply demand-based pricing to capture incremental revenue.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69971" y="5608737"/>
            <a:ext cx="6223638" cy="722213"/>
          </a:xfrm>
          <a:prstGeom prst="roundRect">
            <a:avLst>
              <a:gd name="adj" fmla="val 3002"/>
            </a:avLst>
          </a:prstGeom>
          <a:solidFill>
            <a:srgbClr val="08786D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30" y="5777805"/>
            <a:ext cx="180673" cy="1444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39562" y="5764510"/>
            <a:ext cx="5609589" cy="42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Recommendations are data-driven and align with KPI findings (revenue, occupancy, cancellations, ratings).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728291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2503289"/>
            <a:ext cx="6223638" cy="2150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Hospitality Analytics transforms hotel booking data into actionable insights across bookings → revenue → occupancy → customer behavior, enabling better business decisions. The project shows an end-to-end workflow: Excel → MySQL → Power BI → Tableau for data preparation, analysis, visualization, and decision support.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steps: implement recommendation pilots (cancellation controls, weekend promotions), monitor KPI impact through dashboards, and iterate on pricing and experience improvements.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5179" y="4850408"/>
            <a:ext cx="6833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6529589"/>
            <a:ext cx="12192000" cy="3284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586</Words>
  <Application>Microsoft Office PowerPoint</Application>
  <PresentationFormat>Widescreen</PresentationFormat>
  <Paragraphs>94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Pinapaka Omkar</dc:creator>
  <cp:lastModifiedBy>Pinapaka Omkar</cp:lastModifiedBy>
  <cp:revision>7</cp:revision>
  <dcterms:created xsi:type="dcterms:W3CDTF">2026-08-24T07:47:04Z</dcterms:created>
  <dcterms:modified xsi:type="dcterms:W3CDTF">2026-08-28T11:30:53Z</dcterms:modified>
</cp:coreProperties>
</file>